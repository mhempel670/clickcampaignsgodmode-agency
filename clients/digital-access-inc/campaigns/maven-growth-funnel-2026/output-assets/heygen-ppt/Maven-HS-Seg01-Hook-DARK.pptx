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the only question that matters.</a:t>
            </a:r>
          </a:p>
          <a:p>
            <a:r>
              <a:t>Not how many clicks you're getting.</a:t>
            </a:r>
          </a:p>
          <a:p>
            <a:r>
              <a:t>Not how many impressions your ads generated.</a:t>
            </a:r>
          </a:p>
          <a:p>
            <a:r>
              <a:t>Not how "engaged" your audience is.</a:t>
            </a:r>
          </a:p>
          <a:p>
            <a:r>
              <a:t>How much more revenue do you want?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here's what I've learned after working with hundreds of local service businesses:</a:t>
            </a:r>
          </a:p>
          <a:p>
            <a:r>
              <a:t>Most marketing agencies will never ask you that question.</a:t>
            </a:r>
          </a:p>
          <a:p>
            <a:r>
              <a:t>They'll ask about your budget. They'll ask about your goals in vague terms like "growth" or "visibility."</a:t>
            </a:r>
          </a:p>
          <a:p>
            <a:r>
              <a:t>But they won't pin you down to a number.</a:t>
            </a:r>
          </a:p>
          <a:p>
            <a:r>
              <a:t>Why?</a:t>
            </a:r>
          </a:p>
          <a:p>
            <a:r>
              <a:t>Because if you give them a number—a real revenue target—they become accountable to it.</a:t>
            </a:r>
          </a:p>
          <a:p>
            <a:r>
              <a:t>And most agencies don't want to be accountable to your revenue. They want to be accountable to activity metrics they control.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next 30 minutes, I'm going to show you something completely different.</a:t>
            </a:r>
          </a:p>
          <a:p>
            <a:r>
              <a:t>No nonsense. No fluff. No marketing jargon.</a:t>
            </a:r>
          </a:p>
          <a:p>
            <a:r>
              <a:t>A system that starts with your revenue goal—the actual number you want to hit—and builds a plan one hundred percent customized to your business.</a:t>
            </a:r>
          </a:p>
          <a:p>
            <a:r>
              <a:t>Not a template. Not a generic strategy.</a:t>
            </a:r>
          </a:p>
          <a:p>
            <a:r>
              <a:t>Your business. Your market. Your competitors. Your numbers. Your goal.</a:t>
            </a:r>
          </a:p>
          <a:p>
            <a:r>
              <a:t>What's broken in your specific operation. What those gaps are costing you in your market. And what an integrated plan—designed specifically for your business—would look like to get you from where you are now to where you want to be.</a:t>
            </a:r>
          </a:p>
          <a:p>
            <a:r>
              <a:t>And here's the part that makes this different from every other marketing audit you've ever seen:</a:t>
            </a:r>
          </a:p>
          <a:p>
            <a:r>
              <a:t>This plan is yours.</a:t>
            </a:r>
          </a:p>
          <a:p>
            <a:r>
              <a:t>It's built for your business, in your location, with your numbers. It won't work for anyone else. It's designed to work for you.</a:t>
            </a:r>
          </a:p>
          <a:p>
            <a:r>
              <a:t>And you keep it—whether you work with us or not.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show you what I mean.</a:t>
            </a:r>
          </a:p>
          <a:p>
            <a:r>
              <a:t>Imagine you're a roofing contractor doing about one point two million a year in revenue. You want to get to one point six million.</a:t>
            </a:r>
          </a:p>
          <a:p>
            <a:r>
              <a:t>You're paying a marketing agency fifty-eight hundred a month. They send you monthly reports. Lots of charts. Lots of activity metrics.</a:t>
            </a:r>
          </a:p>
          <a:p>
            <a:r>
              <a:t>But when someone asks you, "Are you on track to hit one point six million?" you don't know.</a:t>
            </a:r>
          </a:p>
          <a:p>
            <a:r>
              <a:t>Because nobody's shown you the connection between what you're paying for and the revenue goal you're trying to hit.</a:t>
            </a:r>
          </a:p>
          <a:p>
            <a:r>
              <a:t>So you go through a seven-minute analysis with Maven.</a:t>
            </a:r>
          </a:p>
          <a:p>
            <a:r>
              <a:t>The AI asks you one question first: "How much revenue do you want to add?"</a:t>
            </a:r>
          </a:p>
          <a:p>
            <a:r>
              <a:t>You say four hundred thousand.</a:t>
            </a:r>
          </a:p>
          <a:p>
            <a:r>
              <a:t>Now everything the AI does is built around that number.</a:t>
            </a:r>
          </a:p>
          <a:p>
            <a:r>
              <a:t>It analyzes your website. It pulls your competitors' data. It looks at your current rankings, your review count, your call handling, your market.</a:t>
            </a:r>
          </a:p>
          <a:p>
            <a:r>
              <a:t>Then it calculates what the gaps in your specific business are costing you—and builds a twelve-month roadmap designed specifically to get you to your four hundred thousand goal.</a:t>
            </a:r>
          </a:p>
          <a:p>
            <a:r>
              <a:t>Not "more traffic." Not "better engagement."</a:t>
            </a:r>
          </a:p>
          <a:p>
            <a:r>
              <a:t>Four hundred thousand in additional revenue for your roofing company in your market.</a:t>
            </a:r>
          </a:p>
          <a:p>
            <a:r>
              <a:t>That plan is yours. Forever.</a:t>
            </a:r>
          </a:p>
          <a:p>
            <a:r>
              <a:t>You can take it to any marketing agency and have them execute it. You can hand it to your team and do it yourself.</a:t>
            </a:r>
          </a:p>
          <a:p>
            <a:r>
              <a:t>Or you can work with us—because we built the system that executes this kind of plan faster and more cost-effectively than anyone else.</a:t>
            </a:r>
          </a:p>
          <a:p>
            <a:r>
              <a:t>But either way, the plan is yours.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name is Matt. I run Maven by Digital Access Inc.</a:t>
            </a:r>
          </a:p>
          <a:p>
            <a:r>
              <a:t>We're not a traditional marketing agency.</a:t>
            </a:r>
          </a:p>
          <a:p>
            <a:r>
              <a:t>We don't do account managers, monthly retainers before you see results, or reports filled with metrics that don't connect to revenue.</a:t>
            </a:r>
          </a:p>
          <a:p>
            <a:r>
              <a:t>What we do is this:</a:t>
            </a:r>
          </a:p>
          <a:p>
            <a:r>
              <a:t>We ask you how much revenue you want to add.</a:t>
            </a:r>
          </a:p>
          <a:p>
            <a:r>
              <a:t>Then we build you a completely customized plan—based on your business, your market, your competitors, and your specific gaps—to get you there.</a:t>
            </a:r>
          </a:p>
          <a:p>
            <a:r>
              <a:t>This analysis is built on:</a:t>
            </a:r>
          </a:p>
          <a:p>
            <a:r>
              <a:t>Eight years of proprietary campaign data from hundreds of local service businesses</a:t>
            </a:r>
          </a:p>
          <a:p>
            <a:r>
              <a:t>Real-time competitor intelligence pulled directly from your market</a:t>
            </a:r>
          </a:p>
          <a:p>
            <a:r>
              <a:t>Third-party industry benchmarks specific to your vertical</a:t>
            </a:r>
          </a:p>
          <a:p>
            <a:r>
              <a:t>Algorithms designed specifically for local service businesses like yours</a:t>
            </a:r>
          </a:p>
          <a:p>
            <a:r>
              <a:t>We're not guessing. We're showing you what the data says about your business and what it'll take to hit your number.</a:t>
            </a:r>
          </a:p>
          <a:p>
            <a:r>
              <a:t>And here's what makes this truly different:</a:t>
            </a:r>
          </a:p>
          <a:p>
            <a:r>
              <a:t>Once you get your plan, you have access to it inside your own portal.</a:t>
            </a:r>
          </a:p>
          <a:p>
            <a:r>
              <a:t>You can log in anytime. Review your gap analysis. See your twelve-month roadmap. Check your keyword rankings. Compare yourself to your competitors.</a:t>
            </a:r>
          </a:p>
          <a:p>
            <a:r>
              <a:t>It's yours.</a:t>
            </a:r>
          </a:p>
          <a:p>
            <a:r>
              <a:t>If you decide to work with us to execute the plan, you'll be able to track your progress in real time. You'll see what's working, what's not, and how close you are to hitting your revenue goal.</a:t>
            </a:r>
          </a:p>
          <a:p>
            <a:r>
              <a:t>Everything is one hundred percent customized to you.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I'm going to walk you through a real example.</a:t>
            </a:r>
          </a:p>
          <a:p>
            <a:r>
              <a:t>You'll see the full analysis run in about 5 minutes.</a:t>
            </a:r>
          </a:p>
          <a:p>
            <a:r>
              <a:t>And at the end, I'll show you how to get the same thing for your business—for less than the cost of a tank of gas.</a:t>
            </a:r>
          </a:p>
          <a:p>
            <a:r>
              <a:t>Let's get into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1691640"/>
            <a:ext cx="8001000" cy="4114800"/>
          </a:xfrm>
          <a:prstGeom prst="rect">
            <a:avLst/>
          </a:prstGeom>
          <a:noFill/>
        </p:spPr>
        <p:txBody>
          <a:bodyPr wrap="square">
            <a:spAutoFit/>
          </a:bodyPr>
          <a:lstStyle/>
          <a:p>
            <a:pPr algn="l">
              <a:defRPr b="1" sz="3600">
                <a:solidFill>
                  <a:srgbClr val="FFFFFF"/>
                </a:solidFill>
              </a:defRPr>
            </a:pPr>
            <a:r>
              <a:t>How much more </a:t>
            </a:r>
            <a:r>
              <a:rPr sz="3600" b="1">
                <a:solidFill>
                  <a:srgbClr val="10B981"/>
                </a:solidFill>
              </a:rPr>
              <a:t>revenue</a:t>
            </a:r>
            <a:r>
              <a:rPr sz="3600" b="1">
                <a:solidFill>
                  <a:srgbClr val="FFFFFF"/>
                </a:solidFill>
              </a:rPr>
              <a:t> do you want to add to your business this year?</a:t>
            </a:r>
          </a:p>
        </p:txBody>
      </p:sp>
      <p:sp>
        <p:nvSpPr>
          <p:cNvPr id="3" name="TextBox 2"/>
          <p:cNvSpPr txBox="1"/>
          <p:nvPr/>
        </p:nvSpPr>
        <p:spPr>
          <a:xfrm>
            <a:off x="685800" y="6263640"/>
            <a:ext cx="8001000" cy="365760"/>
          </a:xfrm>
          <a:prstGeom prst="rect">
            <a:avLst/>
          </a:prstGeom>
          <a:noFill/>
        </p:spPr>
        <p:txBody>
          <a:bodyPr wrap="none">
            <a:spAutoFit/>
          </a:bodyPr>
          <a:lstStyle/>
          <a:p>
            <a:pPr algn="l">
              <a:defRPr sz="1100">
                <a:solidFill>
                  <a:srgbClr val="64748B"/>
                </a:solidFill>
              </a:defRPr>
            </a:pPr>
            <a:r>
              <a:t>MAVEN by Digital Access Inc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1691640"/>
            <a:ext cx="8001000" cy="4114800"/>
          </a:xfrm>
          <a:prstGeom prst="rect">
            <a:avLst/>
          </a:prstGeom>
          <a:noFill/>
        </p:spPr>
        <p:txBody>
          <a:bodyPr wrap="square">
            <a:spAutoFit/>
          </a:bodyPr>
          <a:lstStyle/>
          <a:p>
            <a:pPr algn="l">
              <a:defRPr b="1" sz="4400">
                <a:solidFill>
                  <a:srgbClr val="FFFFFF"/>
                </a:solidFill>
              </a:defRPr>
            </a:pPr>
            <a:r>
              <a:t>The only question that matters</a:t>
            </a:r>
          </a:p>
          <a:p>
            <a:pPr algn="l">
              <a:spcBef>
                <a:spcPts val="1600"/>
              </a:spcBef>
              <a:defRPr sz="2600">
                <a:solidFill>
                  <a:srgbClr val="10B981"/>
                </a:solidFill>
              </a:defRPr>
            </a:pPr>
            <a:r>
              <a:t>Revenue — not clicks</a:t>
            </a:r>
          </a:p>
        </p:txBody>
      </p:sp>
      <p:sp>
        <p:nvSpPr>
          <p:cNvPr id="3" name="TextBox 2"/>
          <p:cNvSpPr txBox="1"/>
          <p:nvPr/>
        </p:nvSpPr>
        <p:spPr>
          <a:xfrm>
            <a:off x="685800" y="6263640"/>
            <a:ext cx="8001000" cy="365760"/>
          </a:xfrm>
          <a:prstGeom prst="rect">
            <a:avLst/>
          </a:prstGeom>
          <a:noFill/>
        </p:spPr>
        <p:txBody>
          <a:bodyPr wrap="none">
            <a:spAutoFit/>
          </a:bodyPr>
          <a:lstStyle/>
          <a:p>
            <a:pPr algn="l">
              <a:defRPr sz="1100">
                <a:solidFill>
                  <a:srgbClr val="64748B"/>
                </a:solidFill>
              </a:defRPr>
            </a:pPr>
            <a:r>
              <a:t>MAVEN by Digital Access Inc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1691640"/>
            <a:ext cx="8001000" cy="4114800"/>
          </a:xfrm>
          <a:prstGeom prst="rect">
            <a:avLst/>
          </a:prstGeom>
          <a:noFill/>
        </p:spPr>
        <p:txBody>
          <a:bodyPr wrap="square">
            <a:spAutoFit/>
          </a:bodyPr>
          <a:lstStyle/>
          <a:p>
            <a:pPr algn="l">
              <a:defRPr b="1" sz="4400">
                <a:solidFill>
                  <a:srgbClr val="FFFFFF"/>
                </a:solidFill>
              </a:defRPr>
            </a:pPr>
            <a:r>
              <a:t>In the next 30 minutes</a:t>
            </a:r>
          </a:p>
          <a:p>
            <a:pPr algn="l">
              <a:spcBef>
                <a:spcPts val="1600"/>
              </a:spcBef>
              <a:defRPr sz="2600">
                <a:solidFill>
                  <a:srgbClr val="10B981"/>
                </a:solidFill>
              </a:defRPr>
            </a:pPr>
            <a:r>
              <a:t>Your business · Your market · Your numbers</a:t>
            </a:r>
          </a:p>
        </p:txBody>
      </p:sp>
      <p:sp>
        <p:nvSpPr>
          <p:cNvPr id="3" name="TextBox 2"/>
          <p:cNvSpPr txBox="1"/>
          <p:nvPr/>
        </p:nvSpPr>
        <p:spPr>
          <a:xfrm>
            <a:off x="685800" y="6263640"/>
            <a:ext cx="8001000" cy="365760"/>
          </a:xfrm>
          <a:prstGeom prst="rect">
            <a:avLst/>
          </a:prstGeom>
          <a:noFill/>
        </p:spPr>
        <p:txBody>
          <a:bodyPr wrap="none">
            <a:spAutoFit/>
          </a:bodyPr>
          <a:lstStyle/>
          <a:p>
            <a:pPr algn="l">
              <a:defRPr sz="1100">
                <a:solidFill>
                  <a:srgbClr val="64748B"/>
                </a:solidFill>
              </a:defRPr>
            </a:pPr>
            <a:r>
              <a:t>MAVEN by Digital Access Inc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1691640"/>
            <a:ext cx="8001000" cy="4114800"/>
          </a:xfrm>
          <a:prstGeom prst="rect">
            <a:avLst/>
          </a:prstGeom>
          <a:noFill/>
        </p:spPr>
        <p:txBody>
          <a:bodyPr wrap="square">
            <a:spAutoFit/>
          </a:bodyPr>
          <a:lstStyle/>
          <a:p>
            <a:pPr algn="l">
              <a:defRPr b="1" sz="4400">
                <a:solidFill>
                  <a:srgbClr val="FFFFFF"/>
                </a:solidFill>
              </a:defRPr>
            </a:pPr>
            <a:r>
              <a:t>Example: Roofing contractor</a:t>
            </a:r>
          </a:p>
          <a:p>
            <a:pPr algn="l">
              <a:spcBef>
                <a:spcPts val="1600"/>
              </a:spcBef>
              <a:defRPr sz="2600">
                <a:solidFill>
                  <a:srgbClr val="10B981"/>
                </a:solidFill>
              </a:defRPr>
            </a:pPr>
            <a:r>
              <a:t>$1.2M today → $1.6M goal</a:t>
            </a:r>
          </a:p>
        </p:txBody>
      </p:sp>
      <p:sp>
        <p:nvSpPr>
          <p:cNvPr id="3" name="TextBox 2"/>
          <p:cNvSpPr txBox="1"/>
          <p:nvPr/>
        </p:nvSpPr>
        <p:spPr>
          <a:xfrm>
            <a:off x="685800" y="6263640"/>
            <a:ext cx="8001000" cy="365760"/>
          </a:xfrm>
          <a:prstGeom prst="rect">
            <a:avLst/>
          </a:prstGeom>
          <a:noFill/>
        </p:spPr>
        <p:txBody>
          <a:bodyPr wrap="none">
            <a:spAutoFit/>
          </a:bodyPr>
          <a:lstStyle/>
          <a:p>
            <a:pPr algn="l">
              <a:defRPr sz="1100">
                <a:solidFill>
                  <a:srgbClr val="64748B"/>
                </a:solidFill>
              </a:defRPr>
            </a:pPr>
            <a:r>
              <a:t>MAVEN by Digital Access Inc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1691640"/>
            <a:ext cx="8001000" cy="4114800"/>
          </a:xfrm>
          <a:prstGeom prst="rect">
            <a:avLst/>
          </a:prstGeom>
          <a:noFill/>
        </p:spPr>
        <p:txBody>
          <a:bodyPr wrap="square">
            <a:spAutoFit/>
          </a:bodyPr>
          <a:lstStyle/>
          <a:p>
            <a:pPr algn="l">
              <a:defRPr b="1" sz="4400">
                <a:solidFill>
                  <a:srgbClr val="FFFFFF"/>
                </a:solidFill>
              </a:defRPr>
            </a:pPr>
            <a:r>
              <a:rPr sz="4400" b="1">
                <a:solidFill>
                  <a:srgbClr val="10B981"/>
                </a:solidFill>
              </a:rPr>
              <a:t>Maven</a:t>
            </a:r>
            <a:r>
              <a:rPr sz="4400" b="1">
                <a:solidFill>
                  <a:srgbClr val="FFFFFF"/>
                </a:solidFill>
              </a:rPr>
              <a:t> by Digital Access Inc</a:t>
            </a:r>
          </a:p>
          <a:p>
            <a:pPr algn="l">
              <a:spcBef>
                <a:spcPts val="1600"/>
              </a:spcBef>
              <a:defRPr sz="2600">
                <a:solidFill>
                  <a:srgbClr val="10B981"/>
                </a:solidFill>
              </a:defRPr>
            </a:pPr>
            <a:r>
              <a:t>Not a traditional marketing agency</a:t>
            </a:r>
          </a:p>
        </p:txBody>
      </p:sp>
      <p:sp>
        <p:nvSpPr>
          <p:cNvPr id="3" name="TextBox 2"/>
          <p:cNvSpPr txBox="1"/>
          <p:nvPr/>
        </p:nvSpPr>
        <p:spPr>
          <a:xfrm>
            <a:off x="685800" y="6263640"/>
            <a:ext cx="8001000" cy="365760"/>
          </a:xfrm>
          <a:prstGeom prst="rect">
            <a:avLst/>
          </a:prstGeom>
          <a:noFill/>
        </p:spPr>
        <p:txBody>
          <a:bodyPr wrap="none">
            <a:spAutoFit/>
          </a:bodyPr>
          <a:lstStyle/>
          <a:p>
            <a:pPr algn="l">
              <a:defRPr sz="1100">
                <a:solidFill>
                  <a:srgbClr val="64748B"/>
                </a:solidFill>
              </a:defRPr>
            </a:pPr>
            <a:r>
              <a:t>MAVEN by Digital Access Inc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 y="1691640"/>
            <a:ext cx="8001000" cy="4114800"/>
          </a:xfrm>
          <a:prstGeom prst="rect">
            <a:avLst/>
          </a:prstGeom>
          <a:noFill/>
        </p:spPr>
        <p:txBody>
          <a:bodyPr wrap="square">
            <a:spAutoFit/>
          </a:bodyPr>
          <a:lstStyle/>
          <a:p>
            <a:pPr algn="l">
              <a:defRPr b="1" sz="4400">
                <a:solidFill>
                  <a:srgbClr val="FFFFFF"/>
                </a:solidFill>
              </a:defRPr>
            </a:pPr>
            <a:r>
              <a:t>Today: Real analysis walkthrough</a:t>
            </a:r>
          </a:p>
          <a:p>
            <a:pPr algn="l">
              <a:spcBef>
                <a:spcPts val="1600"/>
              </a:spcBef>
              <a:defRPr sz="2600">
                <a:solidFill>
                  <a:srgbClr val="10B981"/>
                </a:solidFill>
              </a:defRPr>
            </a:pPr>
            <a:r>
              <a:t>Plus how to get the same analysis for your business</a:t>
            </a:r>
          </a:p>
        </p:txBody>
      </p:sp>
      <p:sp>
        <p:nvSpPr>
          <p:cNvPr id="3" name="TextBox 2"/>
          <p:cNvSpPr txBox="1"/>
          <p:nvPr/>
        </p:nvSpPr>
        <p:spPr>
          <a:xfrm>
            <a:off x="685800" y="6263640"/>
            <a:ext cx="8001000" cy="365760"/>
          </a:xfrm>
          <a:prstGeom prst="rect">
            <a:avLst/>
          </a:prstGeom>
          <a:noFill/>
        </p:spPr>
        <p:txBody>
          <a:bodyPr wrap="none">
            <a:spAutoFit/>
          </a:bodyPr>
          <a:lstStyle/>
          <a:p>
            <a:pPr algn="l">
              <a:defRPr sz="1100">
                <a:solidFill>
                  <a:srgbClr val="64748B"/>
                </a:solidFill>
              </a:defRPr>
            </a:pPr>
            <a:r>
              <a:t>MAVEN by Digital Access Inc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